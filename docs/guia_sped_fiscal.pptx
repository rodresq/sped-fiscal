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91440"/>
            <a:ext cx="365760" cy="5303520"/>
          </a:xfrm>
          <a:prstGeom prst="rect">
            <a:avLst/>
          </a:prstGeom>
          <a:solidFill>
            <a:srgbClr val="7F77DD">
              <a:alpha val="15000"/>
            </a:srgbClr>
          </a:solidFill>
          <a:ln w="12700">
            <a:solidFill>
              <a:srgbClr val="7F77DD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-91440"/>
            <a:ext cx="365760" cy="5303520"/>
          </a:xfrm>
          <a:prstGeom prst="rect">
            <a:avLst/>
          </a:prstGeom>
          <a:solidFill>
            <a:srgbClr val="7F77DD">
              <a:alpha val="15000"/>
            </a:srgbClr>
          </a:solidFill>
          <a:ln w="12700">
            <a:solidFill>
              <a:srgbClr val="7F77DD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-91440"/>
            <a:ext cx="365760" cy="5303520"/>
          </a:xfrm>
          <a:prstGeom prst="rect">
            <a:avLst/>
          </a:prstGeom>
          <a:solidFill>
            <a:srgbClr val="7F77DD">
              <a:alpha val="15000"/>
            </a:srgbClr>
          </a:solidFill>
          <a:ln w="12700">
            <a:solidFill>
              <a:srgbClr val="7F77DD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-91440"/>
            <a:ext cx="365760" cy="5303520"/>
          </a:xfrm>
          <a:prstGeom prst="rect">
            <a:avLst/>
          </a:prstGeom>
          <a:solidFill>
            <a:srgbClr val="7F77DD">
              <a:alpha val="15000"/>
            </a:srgbClr>
          </a:solidFill>
          <a:ln w="12700">
            <a:solidFill>
              <a:srgbClr val="7F77DD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-91440"/>
            <a:ext cx="365760" cy="5303520"/>
          </a:xfrm>
          <a:prstGeom prst="rect">
            <a:avLst/>
          </a:prstGeom>
          <a:solidFill>
            <a:srgbClr val="7F77DD">
              <a:alpha val="15000"/>
            </a:srgbClr>
          </a:solidFill>
          <a:ln w="12700">
            <a:solidFill>
              <a:srgbClr val="7F77DD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657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65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EFD ICMS/IPI · LEIAUTE 019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914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GUIA VISUAL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14173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SPED Fiscal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274320" y="28346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9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básico ao projeto piloto em Python: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9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geração, validação e envio automatizado.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411480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1148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Leiaute 019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411480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41148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PVA 6.0.1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411480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1148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3.10+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SPED?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Público de Escrituração Digital — Decreto nº 6.022/2007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do Governo Federal que substitui a escrituração em papel por arquivos digitais com validade jurídica garantida por certificado digital ICP-Brasil, unificando o envio de informações fiscais, contábeis e trabalhistas.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920240"/>
            <a:ext cx="2834640" cy="1051560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920240"/>
            <a:ext cx="64008" cy="10515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116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EFD ICMS/IPI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26771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 Fiscal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505456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de ICMS e IPI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FOCO DESTE GUIA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920240"/>
            <a:ext cx="2834640" cy="105156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920240"/>
            <a:ext cx="64008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0116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EFD Contrib.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226771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 Contribuições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64992" y="2505456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de PIS/COFINS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91072" y="1920240"/>
            <a:ext cx="2834640" cy="105156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91072" y="1920240"/>
            <a:ext cx="64008" cy="10515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0116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9944" y="226771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 Contábil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9944" y="2505456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Escrituração Contábil Digital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1168" y="3154680"/>
            <a:ext cx="2834640" cy="105156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3154680"/>
            <a:ext cx="64008" cy="105156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4612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eSocial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50215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Obrig. Trabalhistas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739896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Folha, admissões, demissões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46120" y="3154680"/>
            <a:ext cx="2834640" cy="105156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3154680"/>
            <a:ext cx="64008" cy="10515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324612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64992" y="350215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Escrit. Contábil Fiscal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64992" y="3739896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IRPJ e CSLL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91072" y="3154680"/>
            <a:ext cx="2834640" cy="105156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91072" y="3154680"/>
            <a:ext cx="64008" cy="10515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9944" y="324612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NF-e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9944" y="350215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Fiscal Eletr.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9944" y="3739896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base das operações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 Fiscal — EFD ICMS/IPI · Leiaute 019 · Guia Prático 3.1.9 · PVA 6.0.1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583680" y="49011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Piloto Python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SPED FISCAL?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EFD ICMS/IPI — Escrituração Fiscal Digital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digital em formato TXT delimitado por pipe (|) que substitui os antigos livros fiscais em papel. Reúne todas as movimentações de ICMS e IPI do período, deve ser assinado com certificado ICP-Brasil, validado pelo PVA e transmitido mensalmente.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783080"/>
            <a:ext cx="868680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0136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|0000|019|0|01012024|31012024|EMPRESA LTDA|12345678000195||CE|0123456789|2304400|||A|0|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230428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linha real — cada campo separado por |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2578608"/>
            <a:ext cx="2560320" cy="347472"/>
          </a:xfrm>
          <a:prstGeom prst="rect">
            <a:avLst/>
          </a:prstGeom>
          <a:solidFill>
            <a:srgbClr val="FAEEDA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2578608"/>
            <a:ext cx="6126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Periodicidade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0360" y="26151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 — do 1º ao último dia do mês de referência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944368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2944368"/>
            <a:ext cx="6126480" cy="34747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809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80360" y="29809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Transmissão no mês seguinte ao do fato gerador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310128"/>
            <a:ext cx="2560320" cy="347472"/>
          </a:xfrm>
          <a:prstGeom prst="rect">
            <a:avLst/>
          </a:prstGeom>
          <a:solidFill>
            <a:srgbClr val="FAEEDA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3310128"/>
            <a:ext cx="6126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46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Leiaute vigente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80360" y="33467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Leiaute 019 — Guia Prático EFD ICMS/IPI 3.1.9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675888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88920" y="3675888"/>
            <a:ext cx="6126480" cy="34747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12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880360" y="37124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 versão 6.0.1 — gratuito (Receita Federal)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4041648"/>
            <a:ext cx="2560320" cy="347472"/>
          </a:xfrm>
          <a:prstGeom prst="rect">
            <a:avLst/>
          </a:prstGeom>
          <a:solidFill>
            <a:srgbClr val="FAEEDA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4041648"/>
            <a:ext cx="6126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078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Impostos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880360" y="40782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ICMS (estadual) e IPI (federal)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407408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88920" y="4407408"/>
            <a:ext cx="6126480" cy="347472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443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880360" y="44439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Latin-1 (ISO-8859-1) — padrão nos ERPs brasileiros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 Fiscal — EFD ICMS/IPI · Leiaute 019 · Guia Prático 3.1.9 · PVA 6.0.1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83680" y="49011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Piloto Python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INTERNA — OS BLOCOS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é organizado em blocos temáticos, cada um com registros de 4 caracteres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143000"/>
            <a:ext cx="4297680" cy="804672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43000"/>
            <a:ext cx="64008" cy="8046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2070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Bloco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" y="14356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e Identificação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" y="16550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Empresa, participantes, itens, unidades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81728" y="1143000"/>
            <a:ext cx="4297680" cy="804672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143000"/>
            <a:ext cx="64008" cy="8046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2070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Bloco 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14356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Fiscais ICMS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9744" y="16550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NF-e, NFC-e, itens e registros analíticos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" y="2057400"/>
            <a:ext cx="4297680" cy="804672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2057400"/>
            <a:ext cx="64008" cy="8046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1214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Bloco 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" y="23500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Transporte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" y="25694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CT-e: serviços de transporte e frete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81728" y="2057400"/>
            <a:ext cx="4297680" cy="804672"/>
          </a:xfrm>
          <a:prstGeom prst="rect">
            <a:avLst/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81728" y="2057400"/>
            <a:ext cx="64008" cy="804672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1214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3C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Bloco 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9744" y="23500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ICMS e IPI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9744" y="25694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Débitos, créditos e obrigações a recolher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" y="2971800"/>
            <a:ext cx="4297680" cy="804672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01168" y="2971800"/>
            <a:ext cx="64008" cy="8046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30358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Bloco 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" y="32644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 Físico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" y="34838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de estoques no final do período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81728" y="2971800"/>
            <a:ext cx="4297680" cy="804672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81728" y="2971800"/>
            <a:ext cx="64008" cy="80467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0358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Bloco 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32644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e Estoque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9744" y="34838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saídas e saldos de insumos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1168" y="3886200"/>
            <a:ext cx="4297680" cy="804672"/>
          </a:xfrm>
          <a:prstGeom prst="rect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01168" y="3886200"/>
            <a:ext cx="64008" cy="804672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39502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Bloco 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" y="41788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Complementares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9184" y="43982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adicionais e outras obrigações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81728" y="3886200"/>
            <a:ext cx="4297680" cy="804672"/>
          </a:xfrm>
          <a:prstGeom prst="rect">
            <a:avLst/>
          </a:prstGeom>
          <a:solidFill>
            <a:srgbClr val="F1EFE8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81728" y="3886200"/>
            <a:ext cx="64008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39502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Bloco 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9744" y="41788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do Arquivo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9744" y="43982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Totalização geral — último bloco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 Fiscal — EFD ICMS/IPI · Leiaute 019 · Guia Prático 3.1.9 · PVA 6.0.1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83680" y="49011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Piloto Python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TÉCNICO: DA GERAÇÃO AO ENVIO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etapas automatizadas pelo projeto piloto Python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8686800" cy="786384"/>
          </a:xfrm>
          <a:prstGeom prst="rect">
            <a:avLst/>
          </a:prstGeom>
          <a:solidFill>
            <a:srgbClr val="0D2B24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43000"/>
            <a:ext cx="640080" cy="78638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43000"/>
            <a:ext cx="640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87552" y="1234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Dados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5270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NF-e (XML), estoque, apuração ICMS/IPI e cadastros do ERP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" y="1929384"/>
            <a:ext cx="73152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039112"/>
            <a:ext cx="8686800" cy="786384"/>
          </a:xfrm>
          <a:prstGeom prst="rect">
            <a:avLst/>
          </a:prstGeom>
          <a:solidFill>
            <a:srgbClr val="2B1F0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039112"/>
            <a:ext cx="640080" cy="78638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039112"/>
            <a:ext cx="640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87552" y="2130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do TXT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423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na ordem: 0→C→D→E→H→K→1→9 · Leiaute 019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" y="2825496"/>
            <a:ext cx="73152" cy="914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935224"/>
            <a:ext cx="8686800" cy="786384"/>
          </a:xfrm>
          <a:prstGeom prst="rect">
            <a:avLst/>
          </a:prstGeom>
          <a:solidFill>
            <a:srgbClr val="0A1A2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935224"/>
            <a:ext cx="640080" cy="78638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935224"/>
            <a:ext cx="640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87552" y="3026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— PVA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3319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estrutural + assinatura digital ICP-Brasil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2064" y="3721608"/>
            <a:ext cx="73152" cy="9144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831336"/>
            <a:ext cx="8686800" cy="786384"/>
          </a:xfrm>
          <a:prstGeom prst="rect">
            <a:avLst/>
          </a:prstGeom>
          <a:solidFill>
            <a:srgbClr val="0D2010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831336"/>
            <a:ext cx="640080" cy="78638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831336"/>
            <a:ext cx="640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87552" y="3922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Transmissão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42153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ao ambiente SPED · Recibo de entrega emitido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4681728"/>
            <a:ext cx="8686800" cy="274320"/>
          </a:xfrm>
          <a:prstGeom prst="rect">
            <a:avLst/>
          </a:prstGeom>
          <a:solidFill>
            <a:srgbClr val="2B1F0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6908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Cruzamento automático: o Fisco verifica se vendedor e comprador declararam os mesmos valores.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PROJETO PILOTO PYTHON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fases progressivas · Python 3.10+ · Leiaute oficial Receita Federal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097280"/>
            <a:ext cx="4297680" cy="1719072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97280"/>
            <a:ext cx="4297680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521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 ·  Parser — Leitura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encoding (latin-1 / utf-8 / cp1252)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" y="19568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Parsear blocos e registros em objetos Python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23591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do arquivo com metadados e totais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1097280"/>
            <a:ext cx="4297680" cy="1719072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097280"/>
            <a:ext cx="4297680" cy="38404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1521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·  Gerador de Blocos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3168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Bloco 0 completo (0000→0990)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73168" y="19568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Bloco C com NF-e de entradas e saídas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23591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do QTD_LIN de cada bloco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2926080"/>
            <a:ext cx="4297680" cy="1719072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926080"/>
            <a:ext cx="4297680" cy="38404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9809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·  Validador Próprio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CFOP conforme UF origem/destino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2608" y="37856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NCM (8 dígitos — tabela TIPI)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2608" y="41879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integridade referencial entre blocos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81728" y="2926080"/>
            <a:ext cx="4297680" cy="1719072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2926080"/>
            <a:ext cx="4297680" cy="38404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9809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 ·  Automação PVA e Envio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PVA via subprocess e importar arquivo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73168" y="37856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Assinar digitalmente com certificado A1/A3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41879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Transmitir via webservice e capturar recibo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 Fiscal — EFD ICMS/IPI · Leiaute 019 · Guia Prático 3.1.9 · PVA 6.0.1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83680" y="49011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Piloto Python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 CRÍTICOS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precisa dominar para não ter rejeição ou multa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14300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43000"/>
            <a:ext cx="64008" cy="15087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Leiaute 019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" y="154533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use a versão mais recente do PVA (6.0.1). Arquivos com leiaute desatualizado são rejeitados.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3C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64008" cy="150876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 — 8 dígitos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82696" y="154533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 incorreto compromete toda a apuração de IPI. Valide contra a tabela TIPI da Receita Federal.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08192" y="114300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08192" y="1143000"/>
            <a:ext cx="64008" cy="15087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154533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1.xxx/5.xxx = interno · 2.xxx/6.xxx = interestadual. Erros no CFOP afetam diretamente o ICMS.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283464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834640"/>
            <a:ext cx="64008" cy="15087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" y="323697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como o produto é tributado. Regras variam por UF para ICMS e pela TIPI para IPI.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283464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834640"/>
            <a:ext cx="64008" cy="15087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latin-1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82696" y="323697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EFD usam ISO-8859-1. Acentos em UTF-8 corrompem o arquivo e geram rejeição no PVA.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08192" y="283464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3C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08192" y="2834640"/>
            <a:ext cx="64008" cy="150876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e multas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323697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mensal obrigatória. Atraso ou dados incorretos geram multas sobre o faturamento.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 Fiscal — EFD ICMS/IPI · Leiaute 019 · Guia Prático 3.1.9 · PVA 6.0.1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83680" y="49011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Piloto Python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 concluído · 24 testes passando · Pronto para avançar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4297680" cy="1051560"/>
          </a:xfrm>
          <a:prstGeom prst="rect">
            <a:avLst/>
          </a:prstGeom>
          <a:solidFill>
            <a:srgbClr val="1A1A3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10515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C — NF-e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" y="15910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 + C170 + C190 · Fonte: XMLs das NF-e emitidas e recebidas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81728" y="1188720"/>
            <a:ext cx="4297680" cy="1051560"/>
          </a:xfrm>
          <a:prstGeom prst="rect">
            <a:avLst/>
          </a:prstGeom>
          <a:solidFill>
            <a:srgbClr val="1A1A3A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1188720"/>
            <a:ext cx="64008" cy="105156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E — Apuração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9744" y="15910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ICMS a recolher (E110) · Ajustes (E111) · Obrigações (E116)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414016"/>
            <a:ext cx="4297680" cy="1051560"/>
          </a:xfrm>
          <a:prstGeom prst="rect">
            <a:avLst/>
          </a:prstGeom>
          <a:solidFill>
            <a:srgbClr val="1A1A3A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414016"/>
            <a:ext cx="64008" cy="10515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" y="2505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XMLs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" y="2816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automática via lxml · Elimina digitação manual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2414016"/>
            <a:ext cx="4297680" cy="1051560"/>
          </a:xfrm>
          <a:prstGeom prst="rect">
            <a:avLst/>
          </a:prstGeom>
          <a:solidFill>
            <a:srgbClr val="1A1A3A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2414016"/>
            <a:ext cx="64008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505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próprio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9744" y="2816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CFOP x UF · NCM · CST · Integridade entre blocos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639312"/>
            <a:ext cx="4297680" cy="1051560"/>
          </a:xfrm>
          <a:prstGeom prst="rect">
            <a:avLst/>
          </a:prstGeom>
          <a:solidFill>
            <a:srgbClr val="1A1A3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639312"/>
            <a:ext cx="64008" cy="10515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" y="3730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PVA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" y="40416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+ assinatura A1/A3 · Captura de recibo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3639312"/>
            <a:ext cx="4297680" cy="1051560"/>
          </a:xfrm>
          <a:prstGeom prst="rect">
            <a:avLst/>
          </a:prstGeom>
          <a:solidFill>
            <a:srgbClr val="1A1A3A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3639312"/>
            <a:ext cx="64008" cy="10515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3730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Streamlit Cloud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9744" y="40416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 redeploy automático · URL pública gratuita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sped.rfb.gov.br  ·  Guia Prático 3.1.9  ·  PVA 6.0.1  ·  Projeto Piloto SPED Fiscal em Python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Visual SPED Fiscal</dc:title>
  <dc:subject>PptxGenJS Presentation</dc:subject>
  <dc:creator>Projeto Piloto Python</dc:creator>
  <cp:lastModifiedBy>Projeto Piloto Python</cp:lastModifiedBy>
  <cp:revision>1</cp:revision>
  <dcterms:created xsi:type="dcterms:W3CDTF">2026-03-28T12:12:27Z</dcterms:created>
  <dcterms:modified xsi:type="dcterms:W3CDTF">2026-03-28T12:12:27Z</dcterms:modified>
</cp:coreProperties>
</file>